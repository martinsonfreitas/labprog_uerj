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mover o slide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to 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9869586-BAAF-4FE9-9FC5-ADE554FB1E5D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46A31B-19A4-4047-A14D-79F26DBC01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76A309-FD3F-41F6-827A-B912C26CFB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65ED9B-AC76-4365-8290-B1211CF98C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4A178B-F49C-4748-BAF7-E7C359222A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C065C9-C195-4EE0-ABF2-F5CB5810FA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CF706A-F96C-4285-9F86-183CB7E008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F1E8E-9A3A-4650-BB8D-71F16EF078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E1061D-F4AC-4675-955B-F319B7B951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para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editar 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formato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do texto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do título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preencoded.png"/>
          <p:cNvPicPr/>
          <p:nvPr/>
        </p:nvPicPr>
        <p:blipFill>
          <a:blip r:embed="rId2"/>
          <a:stretch/>
        </p:blipFill>
        <p:spPr>
          <a:xfrm>
            <a:off x="0" y="1285920"/>
            <a:ext cx="3657240" cy="2857320"/>
          </a:xfrm>
          <a:prstGeom prst="rect">
            <a:avLst/>
          </a:prstGeom>
          <a:ln w="0">
            <a:noFill/>
          </a:ln>
        </p:spPr>
      </p:pic>
      <p:sp>
        <p:nvSpPr>
          <p:cNvPr id="10" name="Shape 0"/>
          <p:cNvSpPr/>
          <p:nvPr/>
        </p:nvSpPr>
        <p:spPr>
          <a:xfrm>
            <a:off x="3657600" y="0"/>
            <a:ext cx="5486040" cy="51433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086360" y="865800"/>
            <a:ext cx="4628880" cy="16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00"/>
              </a:lnSpc>
              <a:tabLst>
                <a:tab algn="l" pos="0"/>
              </a:tabLst>
            </a:pPr>
            <a:r>
              <a:rPr b="1" lang="en-US" sz="3290" spc="-1" strike="noStrike">
                <a:solidFill>
                  <a:srgbClr val="ff4500"/>
                </a:solidFill>
                <a:latin typeface="Calibri"/>
              </a:rPr>
              <a:t>Solucionador Otimizado do Puzzle Klotski</a:t>
            </a:r>
            <a:endParaRPr b="0" lang="pt-BR" sz="32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086360" y="2654640"/>
            <a:ext cx="4628880" cy="4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270" spc="-1" strike="noStrike">
                <a:solidFill>
                  <a:srgbClr val="f2f2f2"/>
                </a:solidFill>
                <a:latin typeface="Calibri"/>
              </a:rPr>
              <a:t>Uma Abordagem Algorítmica para o Problema de Busca em Espaços de Estado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086360" y="3563280"/>
            <a:ext cx="46288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Disciplina:</a:t>
            </a:r>
            <a:r>
              <a:rPr b="0" lang="en-US" sz="839" spc="-1" strike="noStrike">
                <a:solidFill>
                  <a:srgbClr val="cccccc"/>
                </a:solidFill>
                <a:latin typeface="Calibri"/>
              </a:rPr>
              <a:t> Laboratório de Programação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Professor:</a:t>
            </a:r>
            <a:r>
              <a:rPr b="0" lang="en-US" sz="839" spc="-1" strike="noStrike">
                <a:solidFill>
                  <a:srgbClr val="cccccc"/>
                </a:solidFill>
                <a:latin typeface="Calibri"/>
              </a:rPr>
              <a:t> João Araújo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Instituição:</a:t>
            </a:r>
            <a:r>
              <a:rPr b="0" lang="en-US" sz="839" spc="-1" strike="noStrike">
                <a:solidFill>
                  <a:srgbClr val="cccccc"/>
                </a:solidFill>
                <a:latin typeface="Calibri"/>
              </a:rPr>
              <a:t> Universidade do Estado do Rio de Janeiro (UERJ)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Desenvolvimento:</a:t>
            </a:r>
            <a:r>
              <a:rPr b="0" lang="en-US" sz="839" spc="-1" strike="noStrike">
                <a:solidFill>
                  <a:srgbClr val="cccccc"/>
                </a:solidFill>
                <a:latin typeface="Calibri"/>
              </a:rPr>
              <a:t> Manus AI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Data:</a:t>
            </a:r>
            <a:r>
              <a:rPr b="0" lang="en-US" sz="839" spc="-1" strike="noStrike">
                <a:solidFill>
                  <a:srgbClr val="cccccc"/>
                </a:solidFill>
                <a:latin typeface="Calibri"/>
              </a:rPr>
              <a:t> 28 de Novembro de 2025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5" name="Text 0"/>
          <p:cNvSpPr/>
          <p:nvPr/>
        </p:nvSpPr>
        <p:spPr>
          <a:xfrm>
            <a:off x="428760" y="428760"/>
            <a:ext cx="47718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O Espaço de Estados Exige Otimização Algorítmica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428760" y="1308600"/>
            <a:ext cx="4771800" cy="6552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428760" y="1308600"/>
            <a:ext cx="35280" cy="65520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2524320" y="1451520"/>
            <a:ext cx="58032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O Problema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571680" y="1664280"/>
            <a:ext cx="44859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cccccc"/>
                </a:solidFill>
                <a:latin typeface="Calibri"/>
              </a:rPr>
              <a:t>Encontrar a sequência mínima de movimentos para mover a peça alvo ('X') para a posição de saída.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428760" y="2107080"/>
            <a:ext cx="4771800" cy="505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428760" y="2107080"/>
            <a:ext cx="35280" cy="50508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2226600" y="2250000"/>
            <a:ext cx="117612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Abordagem Inicial (BFS)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1132200" y="2462400"/>
            <a:ext cx="3364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cccccc"/>
                </a:solidFill>
                <a:latin typeface="Calibri"/>
              </a:rPr>
              <a:t>A Busca em Largura garante a solução ótima (menor número de movimentos).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428760" y="2755440"/>
            <a:ext cx="4771800" cy="6552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428760" y="2755440"/>
            <a:ext cx="35280" cy="65520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2576880" y="2898360"/>
            <a:ext cx="4752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O Desafio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571680" y="3110760"/>
            <a:ext cx="448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cccccc"/>
                </a:solidFill>
                <a:latin typeface="Calibri"/>
              </a:rPr>
              <a:t>O Klotski possui um vasto espaço de estados (mais de 65.000 configurações), tornando o BFS puro inviável.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3"/>
          <p:cNvSpPr/>
          <p:nvPr/>
        </p:nvSpPr>
        <p:spPr>
          <a:xfrm>
            <a:off x="428760" y="3553560"/>
            <a:ext cx="4771800" cy="6552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428760" y="3553560"/>
            <a:ext cx="35280" cy="65520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2622600" y="3696480"/>
            <a:ext cx="383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Solução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571680" y="3908880"/>
            <a:ext cx="448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cccccc"/>
                </a:solidFill>
                <a:latin typeface="Calibri"/>
              </a:rPr>
              <a:t>Implementar um Hash Set para poda de estados repetidos, transformando a busca de árvore em busca de grafo.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1" descr="preencoded.png"/>
          <p:cNvPicPr/>
          <p:nvPr/>
        </p:nvPicPr>
        <p:blipFill>
          <a:blip r:embed="rId2"/>
          <a:stretch/>
        </p:blipFill>
        <p:spPr>
          <a:xfrm>
            <a:off x="5486400" y="928800"/>
            <a:ext cx="3657240" cy="357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4" name="Text 0"/>
          <p:cNvSpPr/>
          <p:nvPr/>
        </p:nvSpPr>
        <p:spPr>
          <a:xfrm>
            <a:off x="428760" y="428760"/>
            <a:ext cx="47718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A Representação de Estado Otimizada Reduz a Sobrecarga de Hash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428760" y="1237320"/>
            <a:ext cx="4771800" cy="23626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432360" y="1240920"/>
            <a:ext cx="1440360" cy="304920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432360" y="1279080"/>
            <a:ext cx="144036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7960" bIns="57960" anchor="ctr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pc="-1" strike="noStrike">
                <a:solidFill>
                  <a:srgbClr val="1a1a1a"/>
                </a:solidFill>
                <a:latin typeface="Calibri"/>
              </a:rPr>
              <a:t>Antes (BFS Inicial)</a:t>
            </a:r>
            <a:endParaRPr b="0" lang="pt-BR" sz="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1873080" y="1240920"/>
            <a:ext cx="1596240" cy="304920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1873080" y="1279080"/>
            <a:ext cx="159624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7960" bIns="57960" anchor="ctr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pc="-1" strike="noStrike">
                <a:solidFill>
                  <a:srgbClr val="1a1a1a"/>
                </a:solidFill>
                <a:latin typeface="Calibri"/>
              </a:rPr>
              <a:t>Depois (Otimização 1)</a:t>
            </a:r>
            <a:endParaRPr b="0" lang="pt-BR" sz="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3469680" y="1240920"/>
            <a:ext cx="1726920" cy="304920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3469680" y="1279080"/>
            <a:ext cx="17269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7960" bIns="57960" anchor="ctr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pc="-1" strike="noStrike">
                <a:solidFill>
                  <a:srgbClr val="1a1a1a"/>
                </a:solidFill>
                <a:latin typeface="Calibri"/>
              </a:rPr>
              <a:t>Impacto no Desempenho</a:t>
            </a:r>
            <a:endParaRPr b="0" lang="pt-BR" sz="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564120" y="1686600"/>
            <a:ext cx="57564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f2f2f2"/>
                </a:solidFill>
                <a:latin typeface="Calibri"/>
              </a:rPr>
              <a:t>Representação: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521640" y="1866600"/>
            <a:ext cx="12312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f2f2f2"/>
                </a:solidFill>
                <a:latin typeface="Calibri"/>
              </a:rPr>
              <a:t>String do tabuleiro (6x6 = 36 caracteres).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2005920" y="1686600"/>
            <a:ext cx="57564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f2f2f2"/>
                </a:solidFill>
                <a:latin typeface="Calibri"/>
              </a:rPr>
              <a:t>Representação: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1963440" y="1830600"/>
            <a:ext cx="13579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f2f2f2"/>
                </a:solidFill>
                <a:latin typeface="Calibri"/>
              </a:rPr>
              <a:t>Array de Coordenadas (row, col) das peças.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3620880" y="1628280"/>
            <a:ext cx="80712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f2f2f2"/>
                </a:solidFill>
                <a:latin typeface="Calibri"/>
              </a:rPr>
              <a:t>Redução de Memória: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3561480" y="1808280"/>
            <a:ext cx="14932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f2f2f2"/>
                </a:solidFill>
                <a:latin typeface="Calibri"/>
              </a:rPr>
              <a:t>Armazena apenas coordenadas, não o tabuleiro inteiro.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4"/>
          <p:cNvSpPr/>
          <p:nvPr/>
        </p:nvSpPr>
        <p:spPr>
          <a:xfrm>
            <a:off x="432360" y="2246040"/>
            <a:ext cx="4764600" cy="63396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545760" y="2357280"/>
            <a:ext cx="3286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f2f2f2"/>
                </a:solidFill>
                <a:latin typeface="Calibri"/>
              </a:rPr>
              <a:t>Hashing: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521640" y="2501280"/>
            <a:ext cx="10328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f2f2f2"/>
                </a:solidFill>
                <a:latin typeface="Calibri"/>
              </a:rPr>
              <a:t>Cálculo de hash sobre a string longa.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1987560" y="2357280"/>
            <a:ext cx="3286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f2f2f2"/>
                </a:solidFill>
                <a:latin typeface="Calibri"/>
              </a:rPr>
              <a:t>Hashing: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1963440" y="2501280"/>
            <a:ext cx="13568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f2f2f2"/>
                </a:solidFill>
                <a:latin typeface="Calibri"/>
              </a:rPr>
              <a:t>Cálculo de hash sobre o array de coordenadas ordenadas.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3620160" y="2299320"/>
            <a:ext cx="80136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f2f2f2"/>
                </a:solidFill>
                <a:latin typeface="Calibri"/>
              </a:rPr>
              <a:t>Hashing Mais Rápido: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3561480" y="2479320"/>
            <a:ext cx="12366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f2f2f2"/>
                </a:solidFill>
                <a:latin typeface="Calibri"/>
              </a:rPr>
              <a:t>Elimina alocação de string e acelera comparação.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557640" y="2970000"/>
            <a:ext cx="4932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f2f2f2"/>
                </a:solidFill>
                <a:latin typeface="Calibri"/>
              </a:rPr>
              <a:t>Consistência: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521640" y="3114000"/>
            <a:ext cx="10339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f2f2f2"/>
                </a:solidFill>
                <a:latin typeface="Calibri"/>
              </a:rPr>
              <a:t>Ordem das peças não garantida.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1999440" y="2970000"/>
            <a:ext cx="4932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f2f2f2"/>
                </a:solidFill>
                <a:latin typeface="Calibri"/>
              </a:rPr>
              <a:t>Consistência: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1963440" y="3114000"/>
            <a:ext cx="13428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f2f2f2"/>
                </a:solidFill>
                <a:latin typeface="Calibri"/>
              </a:rPr>
              <a:t>Peças ordenadas por ID (Representação Canônica).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3472200" y="3026520"/>
            <a:ext cx="17244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102240" bIns="102240" anchor="ctr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f2f2f2"/>
                </a:solidFill>
                <a:latin typeface="Calibri"/>
              </a:rPr>
              <a:t>Garante que o mesmo estado sempre gere o mesmo hash.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4442760" y="2160000"/>
            <a:ext cx="3657240" cy="357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2" name="Text 0"/>
          <p:cNvSpPr/>
          <p:nvPr/>
        </p:nvSpPr>
        <p:spPr>
          <a:xfrm>
            <a:off x="428760" y="428760"/>
            <a:ext cx="47718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A Bi-BFS Reduz Exponencialmente a Profundidade de Busca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428760" y="1237320"/>
            <a:ext cx="4771800" cy="532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428760" y="1237320"/>
            <a:ext cx="35280" cy="42480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2624040" y="1344600"/>
            <a:ext cx="38052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Conceito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913320" y="1523160"/>
            <a:ext cx="380196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cccccc"/>
                </a:solidFill>
                <a:latin typeface="Calibri"/>
              </a:rPr>
              <a:t>Duas buscas BFS se expandem simultaneamente: uma do estado inicial e outra do estado final.</a:t>
            </a:r>
            <a:endParaRPr b="0" lang="pt-BR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428760" y="1769400"/>
            <a:ext cx="4771800" cy="8305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428760" y="1769400"/>
            <a:ext cx="35280" cy="72288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2318400" y="1876680"/>
            <a:ext cx="991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Vantagem Matemática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535680" y="2055240"/>
            <a:ext cx="45572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cccccc"/>
                </a:solidFill>
                <a:latin typeface="Calibri"/>
              </a:rPr>
              <a:t>A complexidade de tempo é reduzida de O(b^d) para O(b^(d/2) + b^(d/2)), onde b é o fator de ramificação e d é a profundidade da solução.</a:t>
            </a:r>
            <a:endParaRPr b="0" lang="pt-BR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1779480" y="2376720"/>
            <a:ext cx="20692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ff4500"/>
                </a:solidFill>
                <a:latin typeface="Calibri"/>
              </a:rPr>
              <a:t>Redução: De exponencial em d para exponencial em d/2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428760" y="2599920"/>
            <a:ext cx="4771800" cy="6714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428760" y="2599920"/>
            <a:ext cx="35280" cy="56412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2470680" y="2707200"/>
            <a:ext cx="68688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Implementação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535680" y="2885760"/>
            <a:ext cx="45572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cccccc"/>
                </a:solidFill>
                <a:latin typeface="Calibri"/>
              </a:rPr>
              <a:t>Dois Hash Sets e duas Queues. Função create_goal_state para definir o ponto de partida da busca reversa. Lógica de detecção de colisão para encontrar o estado de encontro.</a:t>
            </a:r>
            <a:endParaRPr b="0" lang="pt-BR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428760" y="3271320"/>
            <a:ext cx="4771800" cy="6886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15"/>
          <p:cNvSpPr/>
          <p:nvPr/>
        </p:nvSpPr>
        <p:spPr>
          <a:xfrm>
            <a:off x="428760" y="3271320"/>
            <a:ext cx="35280" cy="42480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2596320" y="3378600"/>
            <a:ext cx="4356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Resultado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961200" y="3557160"/>
            <a:ext cx="370584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cccccc"/>
                </a:solidFill>
                <a:latin typeface="Calibri"/>
              </a:rPr>
              <a:t>Aumenta drasticamente a capacidade de encontrar soluções em espaços de estado grandes.</a:t>
            </a:r>
            <a:endParaRPr b="0" lang="pt-BR" sz="6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Image 1" descr="preencoded.png"/>
          <p:cNvPicPr/>
          <p:nvPr/>
        </p:nvPicPr>
        <p:blipFill>
          <a:blip r:embed="rId2"/>
          <a:stretch/>
        </p:blipFill>
        <p:spPr>
          <a:xfrm>
            <a:off x="5486400" y="928800"/>
            <a:ext cx="3657240" cy="357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82" name="Text 0"/>
          <p:cNvSpPr/>
          <p:nvPr/>
        </p:nvSpPr>
        <p:spPr>
          <a:xfrm>
            <a:off x="428760" y="428760"/>
            <a:ext cx="47718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A Busca A* Guia a Exploração com Heurística Admissível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428760" y="1237320"/>
            <a:ext cx="4771800" cy="532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428760" y="1237320"/>
            <a:ext cx="35280" cy="42480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2451600" y="1344600"/>
            <a:ext cx="7250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Problema do BFS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1059480" y="1523160"/>
            <a:ext cx="35092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cccccc"/>
                </a:solidFill>
                <a:latin typeface="Calibri"/>
              </a:rPr>
              <a:t>Expande todos os nós na mesma profundidade, mesmo os que estão longe do objetivo.</a:t>
            </a:r>
            <a:endParaRPr b="0" lang="pt-BR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428760" y="1769400"/>
            <a:ext cx="4771800" cy="7304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428760" y="1769400"/>
            <a:ext cx="35280" cy="62280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2581200" y="1876680"/>
            <a:ext cx="4658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Solução A*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1294920" y="2055240"/>
            <a:ext cx="303840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cccccc"/>
                </a:solidFill>
                <a:latin typeface="Calibri"/>
              </a:rPr>
              <a:t>Utiliza uma função de custo total f(n) = g(n) + h(n) para priorizar a expansão.</a:t>
            </a:r>
            <a:endParaRPr b="0" lang="pt-BR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1857960" y="2237400"/>
            <a:ext cx="191232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g(n): Custo real | h(n): Custo heurístico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428760" y="2499840"/>
            <a:ext cx="4771800" cy="6717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428760" y="2499840"/>
            <a:ext cx="35280" cy="56412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2387880" y="2607120"/>
            <a:ext cx="8528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Heurística Utilizada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535680" y="2785680"/>
            <a:ext cx="45572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cccccc"/>
                </a:solidFill>
                <a:latin typeface="Calibri"/>
              </a:rPr>
              <a:t>Distância de Manhattan da peça alvo ('X') até sua posição final. Heurística admissível que garante solução ótima.</a:t>
            </a:r>
            <a:endParaRPr b="0" lang="pt-BR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428760" y="3171600"/>
            <a:ext cx="4771800" cy="6084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428760" y="3171600"/>
            <a:ext cx="35280" cy="56412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2398320" y="3278520"/>
            <a:ext cx="8316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Estrutura de Dados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535680" y="3457080"/>
            <a:ext cx="45572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cccccc"/>
                </a:solidFill>
                <a:latin typeface="Calibri"/>
              </a:rPr>
              <a:t>Substituição da Queue (FIFO) por uma Priority Queue (Min-Heap) para sempre expandir o nó com o menor f(n).</a:t>
            </a:r>
            <a:endParaRPr b="0" lang="pt-BR" sz="6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1" descr="preencoded.png"/>
          <p:cNvPicPr/>
          <p:nvPr/>
        </p:nvPicPr>
        <p:blipFill>
          <a:blip r:embed="rId2"/>
          <a:stretch/>
        </p:blipFill>
        <p:spPr>
          <a:xfrm>
            <a:off x="5486400" y="928800"/>
            <a:ext cx="3657240" cy="357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02" name="Text 0"/>
          <p:cNvSpPr/>
          <p:nvPr/>
        </p:nvSpPr>
        <p:spPr>
          <a:xfrm>
            <a:off x="428760" y="428760"/>
            <a:ext cx="47718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A IA Acelerou o Ciclo de Desenvolvimento e Otimização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428760" y="1237320"/>
            <a:ext cx="4771800" cy="513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428760" y="1237320"/>
            <a:ext cx="35280" cy="40536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2304000" y="1344600"/>
            <a:ext cx="10206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Análise e Planejamento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996120" y="1523160"/>
            <a:ext cx="36360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cccccc"/>
                </a:solidFill>
                <a:latin typeface="Calibri"/>
              </a:rPr>
              <a:t>A IA interpretou o requisito complexo (Haikori2025_2.pdf) e estruturou o projeto em fases lógicas.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428760" y="1750320"/>
            <a:ext cx="4771800" cy="6328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428760" y="1750320"/>
            <a:ext cx="35280" cy="52524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2314440" y="1857240"/>
            <a:ext cx="999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Concepção Algorítmica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535680" y="2035800"/>
            <a:ext cx="4557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cccccc"/>
                </a:solidFill>
                <a:latin typeface="Calibri"/>
              </a:rPr>
              <a:t>A IA analisou o código BFS inicial e propôs as 3 otimizações (Otimização 1, Bi-BFS, A*), justificando a escolha de cada técnica.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428760" y="2383200"/>
            <a:ext cx="4771800" cy="6328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0"/>
          <p:cNvSpPr/>
          <p:nvPr/>
        </p:nvSpPr>
        <p:spPr>
          <a:xfrm>
            <a:off x="428760" y="2383200"/>
            <a:ext cx="35280" cy="52524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2098800" y="2490120"/>
            <a:ext cx="14306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Geração e Refatoração de Código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535680" y="2668680"/>
            <a:ext cx="4557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cccccc"/>
                </a:solidFill>
                <a:latin typeface="Calibri"/>
              </a:rPr>
              <a:t>A IA gerou o código-fonte em C para as novas estruturas de dados (Priority Queue, Hash Set Otimizado) e refatorou as funções de busca.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3"/>
          <p:cNvSpPr/>
          <p:nvPr/>
        </p:nvSpPr>
        <p:spPr>
          <a:xfrm>
            <a:off x="428760" y="3016080"/>
            <a:ext cx="4771800" cy="5126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428760" y="3016080"/>
            <a:ext cx="35280" cy="40536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2378520" y="3123000"/>
            <a:ext cx="8712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Depuração Iterativa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995400" y="3301560"/>
            <a:ext cx="36374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cccccc"/>
                </a:solidFill>
                <a:latin typeface="Calibri"/>
              </a:rPr>
              <a:t>A IA identificou e corrigiu erros de compilação e lógica durante a implementação das otimizações.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428760" y="3528720"/>
            <a:ext cx="4771800" cy="6112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428760" y="3528720"/>
            <a:ext cx="35280" cy="40536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2486880" y="3636000"/>
            <a:ext cx="6548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ff4500"/>
                </a:solidFill>
                <a:latin typeface="Calibri"/>
              </a:rPr>
              <a:t>Documentação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0"/>
          <p:cNvSpPr/>
          <p:nvPr/>
        </p:nvSpPr>
        <p:spPr>
          <a:xfrm>
            <a:off x="1105200" y="3814560"/>
            <a:ext cx="34178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cccccc"/>
                </a:solidFill>
                <a:latin typeface="Calibri"/>
              </a:rPr>
              <a:t>A IA elaborou relatórios técnicos e esta apresentação, sintetizando os resultados do projeto.</a:t>
            </a:r>
            <a:endParaRPr b="0" lang="pt-BR" sz="6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Image 1" descr="preencoded.png"/>
          <p:cNvPicPr/>
          <p:nvPr/>
        </p:nvPicPr>
        <p:blipFill>
          <a:blip r:embed="rId2"/>
          <a:stretch/>
        </p:blipFill>
        <p:spPr>
          <a:xfrm>
            <a:off x="5486400" y="928800"/>
            <a:ext cx="3657240" cy="357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25" name="Text 0"/>
          <p:cNvSpPr/>
          <p:nvPr/>
        </p:nvSpPr>
        <p:spPr>
          <a:xfrm>
            <a:off x="1479960" y="428760"/>
            <a:ext cx="6184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O Solucionador Evoluiu para uma Solução Robusta e Eficiente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428760" y="1011600"/>
            <a:ext cx="8286480" cy="29484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428760" y="1011600"/>
            <a:ext cx="35280" cy="70380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4318560" y="1154520"/>
            <a:ext cx="50688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Conclusão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571680" y="1395360"/>
            <a:ext cx="80006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cccccc"/>
                </a:solidFill>
                <a:latin typeface="Calibri"/>
              </a:rPr>
              <a:t>O projeto demonstrou a evolução de uma solução de busca ingênua (BFS) para um algoritmo de busca informada e otimizada (A*), capaz de resolver o Klotski de forma eficiente. As três otimizações implementadas (Representação Canônica, Bi-BFS e A*) reduzem significativamente o espaço de busca e o tempo de execução.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428760" y="1858320"/>
            <a:ext cx="8286480" cy="7038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6"/>
          <p:cNvSpPr/>
          <p:nvPr/>
        </p:nvSpPr>
        <p:spPr>
          <a:xfrm>
            <a:off x="428760" y="1858320"/>
            <a:ext cx="35280" cy="70380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3504600" y="2001240"/>
            <a:ext cx="21348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Metodologia: Programação Assistida por IA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571680" y="2242440"/>
            <a:ext cx="80006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cccccc"/>
                </a:solidFill>
                <a:latin typeface="Calibri"/>
              </a:rPr>
              <a:t>A programação assistida por IA provou ser uma metodologia eficaz para a implementação rápida e correta de algoritmos complexos. A IA atuou em todas as etapas: análise, concepção algorítmica, geração de código, refatoração, depuração e documentação, acelerando o ciclo de desenvolvimento.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428760" y="2705400"/>
            <a:ext cx="8286480" cy="9781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0"/>
          <p:cNvSpPr/>
          <p:nvPr/>
        </p:nvSpPr>
        <p:spPr>
          <a:xfrm>
            <a:off x="428760" y="2705400"/>
            <a:ext cx="35280" cy="97812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1"/>
          <p:cNvSpPr/>
          <p:nvPr/>
        </p:nvSpPr>
        <p:spPr>
          <a:xfrm>
            <a:off x="4163760" y="2848320"/>
            <a:ext cx="81648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ff4500"/>
                </a:solidFill>
                <a:latin typeface="Calibri"/>
              </a:rPr>
              <a:t>Próximos Passos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2"/>
          <p:cNvSpPr/>
          <p:nvPr/>
        </p:nvSpPr>
        <p:spPr>
          <a:xfrm>
            <a:off x="780120" y="3099960"/>
            <a:ext cx="8787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cccccc"/>
                </a:solidFill>
                <a:latin typeface="Calibri"/>
              </a:rPr>
              <a:t>Heurística Refinada: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2000160" y="3099960"/>
            <a:ext cx="55940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cccccc"/>
                </a:solidFill>
                <a:latin typeface="Calibri"/>
              </a:rPr>
              <a:t>Implementação de uma heurística mais sofisticada (ex: Ponderação de Bloqueios) para melhorar ainda mais a convergência do A*.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4"/>
          <p:cNvSpPr/>
          <p:nvPr/>
        </p:nvSpPr>
        <p:spPr>
          <a:xfrm>
            <a:off x="790560" y="3317040"/>
            <a:ext cx="10177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cccccc"/>
                </a:solidFill>
                <a:latin typeface="Calibri"/>
              </a:rPr>
              <a:t>Testes de Desempenho: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5"/>
          <p:cNvSpPr/>
          <p:nvPr/>
        </p:nvSpPr>
        <p:spPr>
          <a:xfrm>
            <a:off x="2140200" y="3317040"/>
            <a:ext cx="517500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cccccc"/>
                </a:solidFill>
                <a:latin typeface="Calibri"/>
              </a:rPr>
              <a:t>Análise comparativa entre BFS, Bi-BFS e A* para quantificar o ganho de eficiência em diferentes configurações do puzzle.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6"/>
          <p:cNvSpPr/>
          <p:nvPr/>
        </p:nvSpPr>
        <p:spPr>
          <a:xfrm>
            <a:off x="759240" y="3534120"/>
            <a:ext cx="5983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cccccc"/>
                </a:solidFill>
                <a:latin typeface="Calibri"/>
              </a:rPr>
              <a:t>Paralelização: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7"/>
          <p:cNvSpPr/>
          <p:nvPr/>
        </p:nvSpPr>
        <p:spPr>
          <a:xfrm>
            <a:off x="1588680" y="3534120"/>
            <a:ext cx="36799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cccccc"/>
                </a:solidFill>
                <a:latin typeface="Calibri"/>
              </a:rPr>
              <a:t>Exploração de técnicas de paralelização para acelerar a busca em sistemas multi-core.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44" name="Shape 0"/>
          <p:cNvSpPr/>
          <p:nvPr/>
        </p:nvSpPr>
        <p:spPr>
          <a:xfrm>
            <a:off x="3143160" y="1412640"/>
            <a:ext cx="2857320" cy="21427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3143160" y="1412640"/>
            <a:ext cx="56880" cy="2142720"/>
          </a:xfrm>
          <a:prstGeom prst="rect">
            <a:avLst/>
          </a:prstGeom>
          <a:solidFill>
            <a:srgbClr val="ff4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3395520" y="1829520"/>
            <a:ext cx="2352600" cy="6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4901"/>
              </a:lnSpc>
              <a:tabLst>
                <a:tab algn="l" pos="0"/>
              </a:tabLst>
            </a:pPr>
            <a:r>
              <a:rPr b="1" lang="en-US" sz="3730" spc="-1" strike="noStrike">
                <a:solidFill>
                  <a:srgbClr val="ff4500"/>
                </a:solidFill>
                <a:latin typeface="Calibri"/>
              </a:rPr>
              <a:t>Obrigado!</a:t>
            </a:r>
            <a:endParaRPr b="0" lang="pt-BR" sz="3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3701520" y="2672640"/>
            <a:ext cx="17398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f2f2f2"/>
                </a:solidFill>
                <a:latin typeface="Calibri"/>
              </a:rPr>
              <a:t>Perguntas?</a:t>
            </a:r>
            <a:endParaRPr b="0" lang="pt-BR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989360" y="4270320"/>
            <a:ext cx="5164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3333"/>
                </a:solidFill>
                <a:latin typeface="Calibri"/>
              </a:rPr>
              <a:t>Estamos prontos para discutir a solução, as otimizações e o papel da IA no desenvolvimento.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2025-11-28T12:50:23Z</dcterms:created>
  <dc:creator>PptxGenJS</dc:creator>
  <dc:description/>
  <dc:language>pt-BR</dc:language>
  <cp:lastModifiedBy/>
  <dcterms:modified xsi:type="dcterms:W3CDTF">2025-11-28T11:59:53Z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